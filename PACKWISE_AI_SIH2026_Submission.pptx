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38912"/>
            <a:ext cx="1036289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365D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A365D"/>
                </a:solidFill>
                <a:latin typeface="Calibri"/>
              </a:defRPr>
            </a:pPr>
            <a:r>
              <a:t>TITLE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7223760" cy="4480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84248"/>
            <a:ext cx="6766560" cy="4078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A365D"/>
                </a:solidFill>
                <a:latin typeface="Calibri"/>
              </a:defRPr>
            </a:pPr>
            <a:r>
              <a:t>📋 Idea Submission Profile</a:t>
            </a:r>
          </a:p>
          <a:p>
            <a:pPr algn="l">
              <a:spcAft>
                <a:spcPts val="1200"/>
              </a:spcAft>
            </a:pPr>
            <a:r>
              <a:rPr b="1" sz="1300">
                <a:solidFill>
                  <a:srgbClr val="1A365D"/>
                </a:solidFill>
                <a:latin typeface="Calibri"/>
              </a:rPr>
              <a:t>• Problem Statement ID – </a:t>
            </a:r>
            <a:r>
              <a:rPr b="1" sz="1300">
                <a:solidFill>
                  <a:srgbClr val="0D9488"/>
                </a:solidFill>
                <a:latin typeface="Calibri"/>
              </a:rPr>
              <a:t>SIH26236</a:t>
            </a:r>
          </a:p>
          <a:p>
            <a:pPr algn="l">
              <a:spcAft>
                <a:spcPts val="1200"/>
              </a:spcAft>
            </a:pPr>
            <a:r>
              <a:rPr b="1" sz="1300">
                <a:solidFill>
                  <a:srgbClr val="1A365D"/>
                </a:solidFill>
                <a:latin typeface="Calibri"/>
              </a:rPr>
              <a:t>• Problem Statement Title – </a:t>
            </a:r>
            <a:r>
              <a:rPr b="0" sz="1300">
                <a:solidFill>
                  <a:srgbClr val="1E293B"/>
                </a:solidFill>
                <a:latin typeface="Calibri"/>
              </a:rPr>
              <a:t>AI-Based Intelligent Food Packaging Material Recommendation System for Food Commodities</a:t>
            </a:r>
          </a:p>
          <a:p>
            <a:pPr algn="l">
              <a:spcAft>
                <a:spcPts val="1200"/>
              </a:spcAft>
            </a:pPr>
            <a:r>
              <a:rPr b="1" sz="1300">
                <a:solidFill>
                  <a:srgbClr val="1A365D"/>
                </a:solidFill>
                <a:latin typeface="Calibri"/>
              </a:rPr>
              <a:t>• Theme – </a:t>
            </a:r>
            <a:r>
              <a:rPr b="0" sz="1300">
                <a:solidFill>
                  <a:srgbClr val="1A365D"/>
                </a:solidFill>
                <a:latin typeface="Calibri"/>
              </a:rPr>
              <a:t>Agriculture, FoodTech &amp; Rural Development</a:t>
            </a:r>
          </a:p>
          <a:p>
            <a:pPr algn="l">
              <a:spcAft>
                <a:spcPts val="1200"/>
              </a:spcAft>
            </a:pPr>
            <a:r>
              <a:rPr b="1" sz="1300">
                <a:solidFill>
                  <a:srgbClr val="1A365D"/>
                </a:solidFill>
                <a:latin typeface="Calibri"/>
              </a:rPr>
              <a:t>• PS Category – </a:t>
            </a:r>
            <a:r>
              <a:rPr b="1" sz="1300">
                <a:solidFill>
                  <a:srgbClr val="0284C7"/>
                </a:solidFill>
                <a:latin typeface="Calibri"/>
              </a:rPr>
              <a:t>Software Edition</a:t>
            </a:r>
          </a:p>
          <a:p>
            <a:pPr algn="l">
              <a:spcAft>
                <a:spcPts val="1200"/>
              </a:spcAft>
            </a:pPr>
            <a:r>
              <a:rPr b="1" sz="1300">
                <a:solidFill>
                  <a:srgbClr val="1A365D"/>
                </a:solidFill>
                <a:latin typeface="Calibri"/>
              </a:rPr>
              <a:t>• Ministry / Organization – </a:t>
            </a:r>
            <a:r>
              <a:rPr b="0" sz="1300">
                <a:solidFill>
                  <a:srgbClr val="1E293B"/>
                </a:solidFill>
                <a:latin typeface="Calibri"/>
              </a:rPr>
              <a:t>Ministry of Food Processing Industries (MoFPI)</a:t>
            </a:r>
          </a:p>
          <a:p>
            <a:pPr algn="l">
              <a:spcAft>
                <a:spcPts val="1200"/>
              </a:spcAft>
            </a:pPr>
            <a:r>
              <a:rPr b="1" sz="1300">
                <a:solidFill>
                  <a:srgbClr val="1A365D"/>
                </a:solidFill>
                <a:latin typeface="Calibri"/>
              </a:rPr>
              <a:t>• Team Name – </a:t>
            </a:r>
            <a:r>
              <a:rPr b="1" sz="1300">
                <a:solidFill>
                  <a:srgbClr val="B91C1C"/>
                </a:solidFill>
                <a:latin typeface="Calibri"/>
              </a:rPr>
              <a:t>Syndicate 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783080"/>
            <a:ext cx="3276295" cy="44805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984248"/>
            <a:ext cx="2819095" cy="4078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4400"/>
            </a:pPr>
            <a:r>
              <a:t>💡 🧠</a:t>
            </a:r>
          </a:p>
          <a:p>
            <a:pPr algn="ctr">
              <a:defRPr sz="2200" b="1">
                <a:solidFill>
                  <a:srgbClr val="0D9488"/>
                </a:solidFill>
                <a:latin typeface="Calibri"/>
              </a:defRPr>
            </a:pPr>
            <a:r>
              <a:t>PACKWISE AI</a:t>
            </a:r>
          </a:p>
          <a:p>
            <a:pPr algn="ctr">
              <a:spcAft>
                <a:spcPts val="1800"/>
              </a:spcAft>
              <a:defRPr sz="1100" b="1">
                <a:solidFill>
                  <a:srgbClr val="1A365D"/>
                </a:solidFill>
                <a:latin typeface="Calibri"/>
              </a:defRPr>
            </a:pPr>
            <a:r>
              <a:t>Next-Gen Food Packaging Engine</a:t>
            </a:r>
          </a:p>
          <a:p>
            <a:pPr algn="ctr">
              <a:spcAft>
                <a:spcPts val="120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🌱 100% Bio-Compostable</a:t>
            </a:r>
          </a:p>
          <a:p>
            <a:pPr algn="ctr">
              <a:spcAft>
                <a:spcPts val="1200"/>
              </a:spcAft>
              <a:defRPr sz="1200" b="1">
                <a:solidFill>
                  <a:srgbClr val="0284C7"/>
                </a:solidFill>
                <a:latin typeface="Calibri"/>
              </a:defRPr>
            </a:pPr>
            <a:r>
              <a:t>⚖️ FSSAI IS 9845 Compliant</a:t>
            </a:r>
          </a:p>
          <a:p>
            <a:pPr algn="ctr">
              <a:spcAft>
                <a:spcPts val="12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🏛️ MoFPI PMFME Subsidies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Calibri"/>
              </a:defRPr>
            </a:pPr>
            <a:r>
              <a:t>⚡ SYNDICATE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56032"/>
            <a:ext cx="3230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A365D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5379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D9488"/>
                </a:solidFill>
                <a:latin typeface="Calibri"/>
              </a:defRPr>
            </a:pPr>
            <a:r>
              <a:t>PACKWISE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024128"/>
            <a:ext cx="94484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  <a:latin typeface="Calibri"/>
              </a:defRPr>
            </a:pPr>
            <a:r>
              <a:t>Intelligent Packaging • Longer Shelf Life • Less Food Waste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166360" cy="4800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64208"/>
            <a:ext cx="4709160" cy="4398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550" b="1">
                <a:solidFill>
                  <a:srgbClr val="B91C1C"/>
                </a:solidFill>
                <a:latin typeface="Calibri"/>
              </a:defRPr>
            </a:pPr>
            <a:r>
              <a:t>⚠️ The Problem &amp; National Challenge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1A365D"/>
                </a:solidFill>
                <a:latin typeface="Calibri"/>
              </a:rPr>
              <a:t>• Severe Post-Harvest Loss:</a:t>
            </a:r>
            <a:r>
              <a:rPr sz="1150">
                <a:solidFill>
                  <a:srgbClr val="1E293B"/>
                </a:solidFill>
                <a:latin typeface="Calibri"/>
              </a:rPr>
              <a:t> India loses ₹1.52+ Lakh Cr annually (~19.33 MMT fruit/vegetable wastage) due to inadequate packaging.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1A365D"/>
                </a:solidFill>
                <a:latin typeface="Calibri"/>
              </a:rPr>
              <a:t>• Plastic Pollution &amp; EPR Penalty:</a:t>
            </a:r>
            <a:r>
              <a:rPr sz="1150">
                <a:solidFill>
                  <a:srgbClr val="1E293B"/>
                </a:solidFill>
                <a:latin typeface="Calibri"/>
              </a:rPr>
              <a:t> Single-use multi-layer plastic pouches cannot be recycled and face severe CPCB 2026 EPR penalties.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1A365D"/>
                </a:solidFill>
                <a:latin typeface="Calibri"/>
              </a:rPr>
              <a:t>• Barrier Mismatch:</a:t>
            </a:r>
            <a:r>
              <a:rPr sz="1150">
                <a:solidFill>
                  <a:srgbClr val="1E293B"/>
                </a:solidFill>
                <a:latin typeface="Calibri"/>
              </a:rPr>
              <a:t> Perishables packed in generic LDPE suffer condensation rotting, mold bloom, or moisture desiccation.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1A365D"/>
                </a:solidFill>
                <a:latin typeface="Calibri"/>
              </a:rPr>
              <a:t>• MSME &amp; FPO Bottleneck:</a:t>
            </a:r>
            <a:r>
              <a:rPr sz="1150">
                <a:solidFill>
                  <a:srgbClr val="1E293B"/>
                </a:solidFill>
                <a:latin typeface="Calibri"/>
              </a:rPr>
              <a:t> Rural processors lack R&amp;D testing labs and miss out on available MoFPI PMFME capital subsidies.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5287975" cy="48006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4830775" cy="4398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50" b="1">
                <a:solidFill>
                  <a:srgbClr val="0D9488"/>
                </a:solidFill>
                <a:latin typeface="Calibri"/>
              </a:defRPr>
            </a:pPr>
            <a:r>
              <a:t>✨ Our Solution – PACKWISE AI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✔ Analyzes food &amp; storage conditions</a:t>
            </a:r>
            <a:r>
              <a:rPr sz="1100">
                <a:solidFill>
                  <a:srgbClr val="1E293B"/>
                </a:solidFill>
                <a:latin typeface="Calibri"/>
              </a:rPr>
              <a:t> to identify packaging needs (water activity aw, respiration, ethylene).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✔ Recommends materials with OTR, WVTR &amp; thickness guidance</a:t>
            </a:r>
            <a:r>
              <a:rPr sz="1100">
                <a:solidFill>
                  <a:srgbClr val="1E293B"/>
                </a:solidFill>
                <a:latin typeface="Calibri"/>
              </a:rPr>
              <a:t> for hermetic barrier protection.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✔ Considers respiration, temperature &amp; humidity</a:t>
            </a:r>
            <a:r>
              <a:rPr sz="1100">
                <a:solidFill>
                  <a:srgbClr val="1E293B"/>
                </a:solidFill>
                <a:latin typeface="Calibri"/>
              </a:rPr>
              <a:t> for fresh produce to design equilibrium MAP atmospheres.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✔ Offers sustainable and cost-aware packaging alternatives</a:t>
            </a:r>
            <a:r>
              <a:rPr sz="1100">
                <a:solidFill>
                  <a:srgbClr val="1E293B"/>
                </a:solidFill>
                <a:latin typeface="Calibri"/>
              </a:rPr>
              <a:t> (marine PHA, PLA, Chitosan, circular Mono-PE/PP).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✔ Provides explainable recommendations with shelf-life estimation</a:t>
            </a:r>
            <a:r>
              <a:rPr sz="1100">
                <a:solidFill>
                  <a:srgbClr val="1E293B"/>
                </a:solidFill>
                <a:latin typeface="Calibri"/>
              </a:rPr>
              <a:t> via Arrhenius kinetic models.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✔ Automates FSSAI compliance &amp; MoFPI subsidies</a:t>
            </a:r>
            <a:r>
              <a:rPr sz="1100">
                <a:solidFill>
                  <a:srgbClr val="1E293B"/>
                </a:solidFill>
                <a:latin typeface="Calibri"/>
              </a:rPr>
              <a:t> generating printable IS 9845 dossiers and PMFME 35% grants.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Calibri"/>
              </a:defRPr>
            </a:pPr>
            <a:r>
              <a:t>⚡ SYNDICATE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56032"/>
            <a:ext cx="3230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A365D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1036289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5379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2523744" cy="41605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2066543" cy="3758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284C7"/>
                </a:solidFill>
                <a:latin typeface="Calibri"/>
              </a:defRPr>
            </a:pPr>
            <a:r>
              <a:t>STEP 01 : Biochemical Input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Water Activity (aw: 0.18 - 0.99)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Respiration Rate (R_CO2)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Ethylene Sensitivity Index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Target Storage Temp (0°-30°C)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Supply Chain RH &amp; Transit Days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24 Categorized Indian Staples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353312"/>
            <a:ext cx="2523744" cy="41605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554480"/>
            <a:ext cx="2066543" cy="3758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STEP 02 : Dual-Barrier Engine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Target OTR (&lt;1 to &gt;5000 cm³/m²·d)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Target WVTR (&lt;0.1 to &gt;50 g/m²·d)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Active Tech (KMnO4, nisin pads)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Bio-Polymer Multi-Attribute Filter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Recyclable Mono-materials fallback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Packaging Gauge &amp; Sealing 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1" y="1353312"/>
            <a:ext cx="2523744" cy="41605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1554480"/>
            <a:ext cx="2066543" cy="3758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STEP 03 : Kinetic Simulation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Arrhenius Model: k = A·exp(-Ea/RT)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Q10 Temp Quotient (2.0 - 2.8x)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Cold-Chain Rupture Stress Test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Equilibrium MAP Gas Flush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Shelf-Life Multiplier (+150%-450%)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Dynamic Spoilage Curves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1353312"/>
            <a:ext cx="2523744" cy="41605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62288" y="1554480"/>
            <a:ext cx="2066543" cy="3758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t>STEP 04 : Compliance &amp; Grants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FSSAI IS 9845 Migration Check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Overall Migration &lt; 60 mg/kg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CPCB EPR Category I-IV Validation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MoFPI PMFME 35% Capital Grant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Printable Technical Dossier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✔ QR-Based Batch Traceability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650992"/>
            <a:ext cx="10728655" cy="7132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852159"/>
            <a:ext cx="102714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100">
                <a:solidFill>
                  <a:srgbClr val="1A365D"/>
                </a:solidFill>
                <a:latin typeface="Calibri"/>
              </a:defRPr>
            </a:pPr>
            <a:r>
              <a:t>🛠️ Technology Stack &amp; Algorithmic Foundation:</a:t>
            </a:r>
          </a:p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Frontend: React 19 + Vite 8 | Analytical Core: Pure JS/Python Matrix | Kinetic Models: Arrhenius &amp; Fick's Law | Standards: FSSAI IS 9845 &amp; ASTM D3985/F1249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Calibri"/>
              </a:defRPr>
            </a:pPr>
            <a:r>
              <a:t>⚡ SYNDICATE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56032"/>
            <a:ext cx="3230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A365D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1036289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5379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19856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2962656" cy="4489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1A365D"/>
                </a:solidFill>
                <a:latin typeface="Calibri"/>
              </a:defRPr>
            </a:pPr>
            <a:r>
              <a:t>📊 Analysis of Feasibility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Technical Feasibility:</a:t>
            </a:r>
            <a:r>
              <a:rPr sz="1100">
                <a:solidFill>
                  <a:srgbClr val="1E293B"/>
                </a:solidFill>
                <a:latin typeface="Calibri"/>
              </a:rPr>
              <a:t> Built on empirical food science principles (Fick's diffusion laws, Arrhenius kinetics) and ASTM test standards (D3985 for OTR, F1249 for WVTR). Zero speculative hardware needed.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Economic Viability:</a:t>
            </a:r>
            <a:r>
              <a:rPr sz="1100">
                <a:solidFill>
                  <a:srgbClr val="1E293B"/>
                </a:solidFill>
                <a:latin typeface="Calibri"/>
              </a:rPr>
              <a:t> Free open web platform for farmers and MSMEs. Delivers high ROI via 28-42% reduction in spoilage and unlocks up to ₹10 Lakhs in capital grants.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Operational Feasibility:</a:t>
            </a:r>
            <a:r>
              <a:rPr sz="1100">
                <a:solidFill>
                  <a:srgbClr val="1E293B"/>
                </a:solidFill>
                <a:latin typeface="Calibri"/>
              </a:rPr>
              <a:t> Dual-tier architecture: 'Simple Mode' for rural farmers/FPOs and 'Expert Mode' for packaging engineers and food technologists.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371600"/>
            <a:ext cx="3419856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572768"/>
            <a:ext cx="2962656" cy="4489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D97706"/>
                </a:solidFill>
                <a:latin typeface="Calibri"/>
              </a:defRPr>
            </a:pPr>
            <a:r>
              <a:t>⚠️ Potential Challenges &amp; Risks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Bio-Plastic Cost Premium:</a:t>
            </a:r>
            <a:r>
              <a:rPr sz="1100">
                <a:solidFill>
                  <a:srgbClr val="1E293B"/>
                </a:solidFill>
                <a:latin typeface="Calibri"/>
              </a:rPr>
              <a:t> Virgin bio-polymers (PHA/PLA) currently carry a 20-35% price premium over cheap petrochemical LDPE pouches.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Cold-Chain Thermal Abuse:</a:t>
            </a:r>
            <a:r>
              <a:rPr sz="1100">
                <a:solidFill>
                  <a:srgbClr val="1E293B"/>
                </a:solidFill>
                <a:latin typeface="Calibri"/>
              </a:rPr>
              <a:t> Rural transport corridors frequently experience unscheduled power outages and ambient heat spikes exceeding 38°C.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Agro-Produce Moisture Variance:</a:t>
            </a:r>
            <a:r>
              <a:rPr sz="1100">
                <a:solidFill>
                  <a:srgbClr val="1E293B"/>
                </a:solidFill>
                <a:latin typeface="Calibri"/>
              </a:rPr>
              <a:t> Regional and seasonal variations in fruit water activity and peel transpiration across Indian agro-climatic zones.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Domestic Supply Scarcity:</a:t>
            </a:r>
            <a:r>
              <a:rPr sz="1100">
                <a:solidFill>
                  <a:srgbClr val="1E293B"/>
                </a:solidFill>
                <a:latin typeface="Calibri"/>
              </a:rPr>
              <a:t> Limited conversion infrastructure in India for virgin marine-grade PHA film.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371600"/>
            <a:ext cx="3419856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572768"/>
            <a:ext cx="2962656" cy="4489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D9488"/>
                </a:solidFill>
                <a:latin typeface="Calibri"/>
              </a:defRPr>
            </a:pPr>
            <a:r>
              <a:t>🛡️ Strategies for Overcoming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MoFPI Capital Subsidies:</a:t>
            </a:r>
            <a:r>
              <a:rPr sz="1100">
                <a:solidFill>
                  <a:srgbClr val="1E293B"/>
                </a:solidFill>
                <a:latin typeface="Calibri"/>
              </a:rPr>
              <a:t> Offsets bio-machinery cost by directly integrating PMFME 35% capital grants (up to ₹10L) and PMKSY cluster subsidies.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Circular Mono-Material Fallback:</a:t>
            </a:r>
            <a:r>
              <a:rPr sz="1100">
                <a:solidFill>
                  <a:srgbClr val="1E293B"/>
                </a:solidFill>
                <a:latin typeface="Calibri"/>
              </a:rPr>
              <a:t> Recommends recyclable Mono-PP and Mono-PE barrier laminates for budget-constrained micro-enterprises alongside bio-plastics.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Arrhenius Thermal Shock Buffers:</a:t>
            </a:r>
            <a:r>
              <a:rPr sz="1100">
                <a:solidFill>
                  <a:srgbClr val="1E293B"/>
                </a:solidFill>
                <a:latin typeface="Calibri"/>
              </a:rPr>
              <a:t> Algorithm incorporates dynamic +10°C thermal shock safety buffers into all barrier recommendations.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• Standardized Green Vendors:</a:t>
            </a:r>
            <a:r>
              <a:rPr sz="1100">
                <a:solidFill>
                  <a:srgbClr val="1E293B"/>
                </a:solidFill>
                <a:latin typeface="Calibri"/>
              </a:rPr>
              <a:t> Pre-calibrated material specs allow bulk aggregation and procurement from verified bio-polymer suppliers.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Calibri"/>
              </a:defRPr>
            </a:pPr>
            <a:r>
              <a:t>⚡ SYNDICATE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56032"/>
            <a:ext cx="3230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A365D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1036289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5379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53312"/>
            <a:ext cx="3413455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2956255" cy="649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D97706"/>
                </a:solidFill>
                <a:latin typeface="Calibri"/>
              </a:defRPr>
            </a:pPr>
            <a:r>
              <a:t>🍎 6.02 – 15.05%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Fruit post-harvest loss in India</a:t>
            </a:r>
            <a:br/>
            <a:r>
              <a:t>(Govt. of India / NABCONS, 2022)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53312"/>
            <a:ext cx="3413455" cy="10515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54480"/>
            <a:ext cx="2956255" cy="649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0B981"/>
                </a:solidFill>
                <a:latin typeface="Calibri"/>
              </a:defRPr>
            </a:pPr>
            <a:r>
              <a:t>🥬 4.87 – 11.61%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Vegetable post-harvest loss in India</a:t>
            </a:r>
            <a:br/>
            <a:r>
              <a:t>(Govt. of India / NABCONS, 2022)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53312"/>
            <a:ext cx="3413455" cy="105156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2956255" cy="649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0284C7"/>
                </a:solidFill>
                <a:latin typeface="Calibri"/>
              </a:defRPr>
            </a:pPr>
            <a:r>
              <a:t>📦 19.33 MMT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Combined estimated fruit + veg loss</a:t>
            </a:r>
            <a:br/>
            <a:r>
              <a:t>(Govt. of India / NABCONS, 2022)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2523744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61488"/>
            <a:ext cx="2066543" cy="110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284C7"/>
                </a:solidFill>
                <a:latin typeface="Calibri"/>
              </a:defRPr>
            </a:pPr>
            <a:r>
              <a:t>1. Input Parameters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• Commodity Type</a:t>
            </a:r>
            <a:br/>
            <a:r>
              <a:t>• Moisture Content</a:t>
            </a:r>
            <a:br/>
            <a:r>
              <a:t>• Respiration Rate</a:t>
            </a:r>
            <a:br/>
            <a:r>
              <a:t>• Storage Temp &amp; RH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5576" y="2560320"/>
            <a:ext cx="2523744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176" y="2761488"/>
            <a:ext cx="2066543" cy="110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2. AI Engine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• Dual-Barrier Math</a:t>
            </a:r>
            <a:br/>
            <a:r>
              <a:t>• Arrhenius Kinetics</a:t>
            </a:r>
            <a:br/>
            <a:r>
              <a:t>• Spoilage Curves</a:t>
            </a:r>
            <a:br/>
            <a:r>
              <a:t>• OTR &amp; WVTR Matching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1" y="2560320"/>
            <a:ext cx="2523744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2761488"/>
            <a:ext cx="2066543" cy="110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3. Packaging Blueprint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• Bio-polymers (PHA/PLA)</a:t>
            </a:r>
            <a:br/>
            <a:r>
              <a:t>• Active Scavengers</a:t>
            </a:r>
            <a:br/>
            <a:r>
              <a:t>• Thickness &amp; Gauge</a:t>
            </a:r>
            <a:br/>
            <a:r>
              <a:t>• MAP Gas Mixture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8" y="2560320"/>
            <a:ext cx="2523744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2288" y="2761488"/>
            <a:ext cx="2066543" cy="1106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t>4. Optimized Output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• Extended Shelf-Life</a:t>
            </a:r>
            <a:br/>
            <a:r>
              <a:t>• FSSAI Dossier</a:t>
            </a:r>
            <a:br/>
            <a:r>
              <a:t>• MoFPI 35% Grant</a:t>
            </a:r>
            <a:br/>
            <a:r>
              <a:t>• QR Traceability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51960"/>
            <a:ext cx="10728655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53128"/>
            <a:ext cx="10271455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A365D"/>
                </a:solidFill>
                <a:latin typeface="Calibri"/>
              </a:defRPr>
            </a:pPr>
            <a:r>
              <a:t>🌟 Quantifiable National Outcomes &amp; Benefits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D9488"/>
                </a:solidFill>
                <a:latin typeface="Calibri"/>
              </a:rPr>
              <a:t>• Up to 61% Spoilage Reduction:</a:t>
            </a:r>
            <a:r>
              <a:rPr sz="1050">
                <a:solidFill>
                  <a:srgbClr val="1E293B"/>
                </a:solidFill>
                <a:latin typeface="Calibri"/>
              </a:rPr>
              <a:t> Calibrated equilibrium modified atmosphere and moisture-wicking bio-liners prevent microbial decay.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D9488"/>
                </a:solidFill>
                <a:latin typeface="Calibri"/>
              </a:rPr>
              <a:t>• +150% to +450% Shelf-Life Extension:</a:t>
            </a:r>
            <a:r>
              <a:rPr sz="1050">
                <a:solidFill>
                  <a:srgbClr val="1E293B"/>
                </a:solidFill>
                <a:latin typeface="Calibri"/>
              </a:rPr>
              <a:t> Enables rural farmers and MSMEs to access distant metropolitan and lucrative export markets.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D9488"/>
                </a:solidFill>
                <a:latin typeface="Calibri"/>
              </a:rPr>
              <a:t>• Zero Non-Recyclable Plastic:</a:t>
            </a:r>
            <a:r>
              <a:rPr sz="1050">
                <a:solidFill>
                  <a:srgbClr val="1E293B"/>
                </a:solidFill>
                <a:latin typeface="Calibri"/>
              </a:rPr>
              <a:t> Directly replaces multi-layer metalized pouches with marine-compostable PHA and circular mono-polymers.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D9488"/>
                </a:solidFill>
                <a:latin typeface="Calibri"/>
              </a:rPr>
              <a:t>• Economic Empowerment:</a:t>
            </a:r>
            <a:r>
              <a:rPr sz="1050">
                <a:solidFill>
                  <a:srgbClr val="1E293B"/>
                </a:solidFill>
                <a:latin typeface="Calibri"/>
              </a:rPr>
              <a:t> Pre-filled MoFPI PMFME technical dossiers unlock up to ₹10 Lakhs in capital machinery grants for micro-units.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B91C1C"/>
                </a:solidFill>
                <a:latin typeface="Calibri"/>
              </a:defRPr>
            </a:pPr>
            <a:r>
              <a:t>⚡ SYNDICATE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56032"/>
            <a:ext cx="3230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1A365D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"/>
            <a:ext cx="1036289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Calibri"/>
              </a:defRPr>
            </a:pPr>
            <a:r>
              <a:t>RESEARCH AND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53796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66360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4709160" cy="4489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1A365D"/>
                </a:solidFill>
                <a:latin typeface="Calibri"/>
              </a:defRPr>
            </a:pPr>
            <a:r>
              <a:t>🏛️ Government Reports &amp; Regulatory Standards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📄 MoFPI &amp; NABCONS Study (2022):</a:t>
            </a:r>
            <a:r>
              <a:rPr sz="1100">
                <a:solidFill>
                  <a:srgbClr val="1E293B"/>
                </a:solidFill>
                <a:latin typeface="Calibri"/>
              </a:rPr>
              <a:t> 'Assessment of Post-Harvest Losses of Major Agricultural Produce and Harvest Stages in India' — Established national baseline loss metrics of 6.02-15.05% in fruits and 4.87-11.61% in vegetables.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📄 FSSAI Regulation (2018 / IS 9845):</a:t>
            </a:r>
            <a:r>
              <a:rPr sz="1100">
                <a:solidFill>
                  <a:srgbClr val="1E293B"/>
                </a:solidFill>
                <a:latin typeface="Calibri"/>
              </a:rPr>
              <a:t> 'Food Safety and Standards (Packaging) Regulations' — Overall migration limit &lt; 60 mg/kg (&lt; 10 mg/dm²) calibration for bio-polymer food-contact certification.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📄 CPCB Plastic Waste Management Rules (2026):</a:t>
            </a:r>
            <a:r>
              <a:rPr sz="1100">
                <a:solidFill>
                  <a:srgbClr val="1E293B"/>
                </a:solidFill>
                <a:latin typeface="Calibri"/>
              </a:rPr>
              <a:t> 'Guidelines on Extended Producer Responsibility (EPR) for Plastic Packaging' — Phasing out multi-layer plastics in favor of circular mono-materials and compostable bio-polymers.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A365D"/>
                </a:solidFill>
                <a:latin typeface="Calibri"/>
              </a:rPr>
              <a:t>📄 MoFPI PMFME Scheme Guidelines:</a:t>
            </a:r>
            <a:r>
              <a:rPr sz="1100">
                <a:solidFill>
                  <a:srgbClr val="1E293B"/>
                </a:solidFill>
                <a:latin typeface="Calibri"/>
              </a:rPr>
              <a:t> 'PM Formalisation of Micro food processing Enterprises Scheme' — Integration of 35% credit-linked capital grants (maximum ₹10 Lakhs) for food packaging machinery.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371600"/>
            <a:ext cx="5166360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572768"/>
            <a:ext cx="4709160" cy="4489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D9488"/>
                </a:solidFill>
                <a:latin typeface="Calibri"/>
              </a:defRPr>
            </a:pPr>
            <a:r>
              <a:t>🔬 Scientific Literature &amp; ASTM Testing Protocols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D9488"/>
                </a:solidFill>
                <a:latin typeface="Calibri"/>
              </a:rPr>
              <a:t>🔬 Robertson, G. L. (2016):</a:t>
            </a:r>
            <a:r>
              <a:rPr sz="1100">
                <a:solidFill>
                  <a:srgbClr val="1E293B"/>
                </a:solidFill>
                <a:latin typeface="Calibri"/>
              </a:rPr>
              <a:t> 'Food Packaging: Principles and Practice (3rd Edition)', CRC Press — Mathematical formulations for gas permeability, OTR, WVTR, and active scavenger packaging systems.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D9488"/>
                </a:solidFill>
                <a:latin typeface="Calibri"/>
              </a:rPr>
              <a:t>🔬 ASTM D3985-17 Standard:</a:t>
            </a:r>
            <a:r>
              <a:rPr sz="1100">
                <a:solidFill>
                  <a:srgbClr val="1E293B"/>
                </a:solidFill>
                <a:latin typeface="Calibri"/>
              </a:rPr>
              <a:t> 'Standard Test Method for Oxygen Gas Transmission Rate (OTR) Through Plastic Film and Sheeting Using a Coulometric Sensor' — Governs barrier categorization.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D9488"/>
                </a:solidFill>
                <a:latin typeface="Calibri"/>
              </a:rPr>
              <a:t>🔬 ASTM F1249-20 Standard:</a:t>
            </a:r>
            <a:r>
              <a:rPr sz="1100">
                <a:solidFill>
                  <a:srgbClr val="1E293B"/>
                </a:solidFill>
                <a:latin typeface="Calibri"/>
              </a:rPr>
              <a:t> 'Standard Test Method for Water Vapor Transmission Rate (WVTR) Through Plastic Film and Sheeting Using a Modulated Infrared Sensor' — Governs moisture barrier thresholds.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D9488"/>
                </a:solidFill>
                <a:latin typeface="Calibri"/>
              </a:rPr>
              <a:t>🔬 Labuza, T. P. &amp; Taoukis, P. S.:</a:t>
            </a:r>
            <a:r>
              <a:rPr sz="1100">
                <a:solidFill>
                  <a:srgbClr val="1E293B"/>
                </a:solidFill>
                <a:latin typeface="Calibri"/>
              </a:rPr>
              <a:t> 'Prediction of Food Spoilage Kinetics and Arrhenius Q10 Temperature Quotient Equations in Modified Atmosphere Packaging (MAP)' — Powers our kinetic shelf-life simulation lab.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